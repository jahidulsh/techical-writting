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Manrope"/>
      <p:regular r:id="rId27"/>
      <p:bold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91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8709BF-7724-484E-B991-636E2BC876DD}">
  <a:tblStyle styleId="{2E8709BF-7724-484E-B991-636E2BC876D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5940155-3222-41DE-8E74-F5626BD8647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91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anrope-bold.fntdata"/><Relationship Id="rId27" Type="http://schemas.openxmlformats.org/officeDocument/2006/relationships/font" Target="fonts/Manrop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d284aed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8d284aed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9" name="Google Shape;2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00" name="Google Shape;30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9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33.png"/><Relationship Id="rId8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3"/>
          <p:cNvGraphicFramePr/>
          <p:nvPr/>
        </p:nvGraphicFramePr>
        <p:xfrm>
          <a:off x="707390" y="46653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{2E8709BF-7724-484E-B991-636E2BC876DD}</a:tableStyleId>
              </a:tblPr>
              <a:tblGrid>
                <a:gridCol w="4559300"/>
                <a:gridCol w="2964175"/>
                <a:gridCol w="1557650"/>
                <a:gridCol w="1668775"/>
              </a:tblGrid>
              <a:tr h="35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b="1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b="1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Intake</a:t>
                      </a:r>
                      <a:endParaRPr b="1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Section</a:t>
                      </a:r>
                      <a:endParaRPr b="1" sz="2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MD.Monirul Islam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20234103338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09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MD.Jahidul Islam Shihab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20234103347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09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MD. Al Nasir Uddin Siam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20234103349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09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Yeasir Ibna Hasibur Rahman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20234103358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09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" name="Google Shape;85;p13"/>
          <p:cNvSpPr txBox="1"/>
          <p:nvPr/>
        </p:nvSpPr>
        <p:spPr>
          <a:xfrm>
            <a:off x="2992120" y="2925445"/>
            <a:ext cx="51519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Jahid Tanvir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CSE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93725" y="4156075"/>
            <a:ext cx="304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Submmited By:</a:t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308100" y="1842770"/>
            <a:ext cx="7439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CSE-301 :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Writing and Presentation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UBT-Logo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5425" y="59775"/>
            <a:ext cx="303339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93715" y="2691178"/>
            <a:ext cx="19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</a:rPr>
              <a:t>Submitted</a:t>
            </a: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to:</a:t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2150" y="167000"/>
            <a:ext cx="85965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BANGLADESH UNIVERSITY OF BUSINESS AND TECHNOLOGY</a:t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585912" y="1262211"/>
            <a:ext cx="9001125" cy="368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anrope"/>
                <a:ea typeface="Manrope"/>
                <a:cs typeface="Manrope"/>
                <a:sym typeface="Manrope"/>
              </a:rPr>
              <a:t>Presentation On</a:t>
            </a:r>
            <a:endParaRPr b="1" i="0" sz="2400" u="none" cap="none" strike="noStrike">
              <a:solidFill>
                <a:srgbClr val="0369A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595120" y="1633855"/>
            <a:ext cx="9001125" cy="231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Software-Defined Networking (SDN)</a:t>
            </a:r>
            <a:endParaRPr b="1" i="0" sz="66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809750" y="3974465"/>
            <a:ext cx="85725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Manrope"/>
                <a:ea typeface="Manrope"/>
                <a:cs typeface="Manrope"/>
                <a:sym typeface="Manrope"/>
              </a:rPr>
              <a:t>Architectures, Comparative Analysis, and Future Directions</a:t>
            </a:r>
            <a:endParaRPr b="1" i="0" sz="1800" u="none" cap="none" strike="noStrike">
              <a:solidFill>
                <a:srgbClr val="64748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5029200" y="6591460"/>
            <a:ext cx="2133600" cy="276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657225" y="1548200"/>
            <a:ext cx="80241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i="0" lang="en-US" sz="22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Introduction:</a:t>
            </a:r>
            <a:r>
              <a:rPr b="0" i="0" lang="en-US" sz="22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Concept &amp; Market Relevance</a:t>
            </a:r>
            <a:endParaRPr b="0" i="0" sz="22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Core Architecture:</a:t>
            </a:r>
            <a:r>
              <a:rPr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Layers &amp; Components</a:t>
            </a:r>
            <a:endParaRPr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Review:</a:t>
            </a:r>
            <a:r>
              <a:rPr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Comparative Studies</a:t>
            </a:r>
            <a:endParaRPr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</a:t>
            </a:r>
            <a:r>
              <a:rPr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Models &amp; Simulation Tools</a:t>
            </a:r>
            <a:endParaRPr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Result Analysis:</a:t>
            </a:r>
            <a:r>
              <a:rPr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Controller Performance</a:t>
            </a:r>
            <a:endParaRPr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Limitations:</a:t>
            </a:r>
            <a:r>
              <a:rPr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Challenges &amp; Gaps</a:t>
            </a:r>
            <a:endParaRPr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Work:</a:t>
            </a:r>
            <a:r>
              <a:rPr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AI Integration &amp; 6G</a:t>
            </a:r>
            <a:endParaRPr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Merriweather"/>
              <a:buChar char="●"/>
            </a:pPr>
            <a:r>
              <a:rPr b="1" lang="en-US" sz="22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Refernces</a:t>
            </a:r>
            <a:endParaRPr sz="22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571500"/>
            <a:ext cx="11601600" cy="61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Presentation Outline</a:t>
            </a:r>
            <a:endParaRPr b="1" i="0" sz="40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71500" y="1266825"/>
            <a:ext cx="11049000" cy="28500"/>
          </a:xfrm>
          <a:prstGeom prst="rect">
            <a:avLst/>
          </a:prstGeom>
          <a:solidFill>
            <a:srgbClr val="EAEB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5367100" y="64929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76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1453939"/>
            <a:ext cx="550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Decoupling Brain from Muscle</a:t>
            </a:r>
            <a:endParaRPr b="1" i="0" sz="20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1959514"/>
            <a:ext cx="52389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networking tightly couples the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 plane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(decision making) with the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data plane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(forwarding) on individual devices [1].</a:t>
            </a:r>
            <a:endParaRPr b="0" i="0" sz="18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3429009"/>
            <a:ext cx="523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SDN Paradigm Shift 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[1,4]</a:t>
            </a:r>
            <a:r>
              <a:rPr b="1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b="1" i="0" sz="18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0859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57250" y="4011975"/>
            <a:ext cx="4953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Merriweather"/>
              <a:buChar char="●"/>
            </a:pPr>
            <a:r>
              <a:rPr b="1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Centralized Control: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A global view of the network.</a:t>
            </a:r>
            <a:endParaRPr b="0" i="0" sz="18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Merriweather"/>
              <a:buChar char="●"/>
            </a:pPr>
            <a:r>
              <a:rPr b="1" lang="en-US" sz="18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Programmability:</a:t>
            </a:r>
            <a:r>
              <a:rPr lang="en-US" sz="18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Network behavior configured via software/APIs.</a:t>
            </a:r>
            <a:endParaRPr sz="18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Merriweather"/>
              <a:buChar char="●"/>
            </a:pPr>
            <a:r>
              <a:rPr b="1" lang="en-US" sz="18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Agility:</a:t>
            </a:r>
            <a:r>
              <a:rPr lang="en-US" sz="180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Rapid adaptation to changing traffic demands.</a:t>
            </a:r>
            <a:endParaRPr sz="1800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571500"/>
            <a:ext cx="11601450" cy="61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Introduction: What is SDN?</a:t>
            </a:r>
            <a:endParaRPr b="1" i="0" sz="40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5029200" y="64929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571500"/>
            <a:ext cx="11601450" cy="676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Market Relevance &amp; Growth</a:t>
            </a:r>
            <a:endParaRPr b="1" i="0" sz="44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EAEB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5029200" y="6403988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952500" y="69850"/>
            <a:ext cx="9330690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SDN Layered Architecture</a:t>
            </a:r>
            <a:endParaRPr b="1" i="0" sz="40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71500" y="974496"/>
            <a:ext cx="5200650" cy="368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Three Key Planes </a:t>
            </a:r>
            <a:r>
              <a:rPr b="0" i="0" lang="en-US" sz="2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[1 ,2]</a:t>
            </a:r>
            <a:endParaRPr b="0" i="0" sz="24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826775" y="1548125"/>
            <a:ext cx="4852800" cy="4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 Plane: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Business applications (Firewalls, Load Balancers) that communicate requirements </a:t>
            </a:r>
            <a:r>
              <a:rPr b="0" i="0" lang="en-US" sz="2000" u="none" cap="none" strike="noStrik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[2]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57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Data Plane: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The "Muscle" (Switches/Routers) that forwards packets based on rules </a:t>
            </a:r>
            <a:r>
              <a:rPr b="0" i="0" lang="en-US" sz="2000" u="none" cap="none" strike="noStrik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[1,2]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57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 Plane: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The "Brain" (SDN Controller) that translates requirements into rules </a:t>
            </a:r>
            <a:r>
              <a:rPr b="0" i="0" lang="en-US" sz="2000" u="none" cap="none" strike="noStrik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[2].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Basic-SDN-Architecture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4715" y="692785"/>
            <a:ext cx="5835015" cy="602869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5293725" y="6492900"/>
            <a:ext cx="681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19"/>
          <p:cNvGraphicFramePr/>
          <p:nvPr/>
        </p:nvGraphicFramePr>
        <p:xfrm>
          <a:off x="571500" y="10814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{25940155-3222-41DE-8E74-F5626BD8647A}</a:tableStyleId>
              </a:tblPr>
              <a:tblGrid>
                <a:gridCol w="2336175"/>
                <a:gridCol w="2183775"/>
                <a:gridCol w="6510025"/>
              </a:tblGrid>
              <a:tr h="94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Study/Paper</a:t>
                      </a:r>
                      <a:endParaRPr b="1" i="0" sz="2400" u="none" cap="none" strike="noStrike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Focus Area</a:t>
                      </a:r>
                      <a:endParaRPr b="1" i="0" sz="2400" u="none" cap="none" strike="noStrike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                    Key Finding</a:t>
                      </a:r>
                      <a:endParaRPr b="1" i="0" sz="2400" u="none" cap="none" strike="noStrike">
                        <a:solidFill>
                          <a:srgbClr val="FFFFFF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94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Salman et al. (2025)[1]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Controller Performance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Excels in latency; ODL leads in throughput for dense networks.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Govindarajan et al.[2]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SDN vs Traditional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SDN enables superior load balancing but introduces Single Point of Failure risks.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4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MDPI Survey (2024)[5]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Security Issues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Centralized control plane is a prime target for DDoS attacks; distributed consensus is needed.</a:t>
                      </a:r>
                      <a:endParaRPr b="0" i="0" sz="28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Comparison Study (2024)[3]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Topology Impact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Linear topologies favor Ryu; Tree topologies favor ODL for scalability.</a:t>
                      </a:r>
                      <a:endParaRPr b="0" i="0" sz="2400" u="none" cap="none" strike="noStrike">
                        <a:solidFill>
                          <a:srgbClr val="334155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19"/>
          <p:cNvSpPr txBox="1"/>
          <p:nvPr/>
        </p:nvSpPr>
        <p:spPr>
          <a:xfrm>
            <a:off x="571500" y="372745"/>
            <a:ext cx="11049000" cy="61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Literature Review: Comparative Matrix</a:t>
            </a:r>
            <a:endParaRPr b="1" i="0" sz="40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5531975" y="6505575"/>
            <a:ext cx="658200" cy="3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51550"/>
            <a:ext cx="3282250" cy="26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7975" y="2451550"/>
            <a:ext cx="3282250" cy="26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3700" y="2451550"/>
            <a:ext cx="3339975" cy="26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/>
        </p:nvSpPr>
        <p:spPr>
          <a:xfrm>
            <a:off x="719934" y="2994241"/>
            <a:ext cx="294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OpenDaylight (ODL)</a:t>
            </a:r>
            <a:endParaRPr b="1" i="0" sz="20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591975" y="3383100"/>
            <a:ext cx="3183300" cy="1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Java-based, modular, and backed by the Linux Foundation. Known for high throughput and industry adoption.</a:t>
            </a:r>
            <a:endParaRPr b="0" i="0" sz="16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4498717" y="2994241"/>
            <a:ext cx="29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ONOS</a:t>
            </a:r>
            <a:endParaRPr b="1" i="0" sz="20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4568350" y="3357690"/>
            <a:ext cx="28068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Carrier-grade, distributed architecture. Best for Service Providers requiring high availability.</a:t>
            </a:r>
            <a:endParaRPr b="0" i="0" sz="16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8277020" y="2996146"/>
            <a:ext cx="294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Ryu</a:t>
            </a:r>
            <a:endParaRPr b="1" i="0" sz="20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8168225" y="3383100"/>
            <a:ext cx="30873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Python-based, co</a:t>
            </a: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m</a:t>
            </a: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ponent-oriented. Highly favored in research for its simplicity and fast prototyping.</a:t>
            </a:r>
            <a:endParaRPr b="0" i="0" sz="16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160" name="Google Shape;16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5325" y="25360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1200" y="2536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2625" y="25360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571500" y="571500"/>
            <a:ext cx="11049000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Controller Landscape</a:t>
            </a:r>
            <a:endParaRPr b="1" i="0" sz="48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5718300" y="6449600"/>
            <a:ext cx="755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4150" y="1409700"/>
            <a:ext cx="5318750" cy="43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71500" y="1037600"/>
            <a:ext cx="5862900" cy="5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Simulation Environment: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Experiments are typically conducted using Mininet, the standard emulator for rapid prototyping.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Traffic Generation: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Tools like </a:t>
            </a:r>
            <a:r>
              <a:rPr b="0" i="1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Iperf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(bandwidth) and </a:t>
            </a:r>
            <a:r>
              <a:rPr b="0" i="1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Cbench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(controller benchmarking) generate synthetic loads.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Topology Design: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Testing across Linear, Tree, and Mesh topologies to evaluate path finding algorithms.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829310" y="134620"/>
            <a:ext cx="11601450" cy="61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Methodology: Experimental Model</a:t>
            </a:r>
            <a:endParaRPr b="1" i="0" sz="40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5822050" y="6403988"/>
            <a:ext cx="45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764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650" y="1539875"/>
            <a:ext cx="5387975" cy="4772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6272530" y="1539904"/>
            <a:ext cx="5500687" cy="368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Bridging Legacy and Future</a:t>
            </a:r>
            <a:endParaRPr b="1" i="0" sz="24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6272530" y="2091690"/>
            <a:ext cx="5238750" cy="1475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Pure SDN deployment is rare in brownfield environments. Methodologies often involve a </a:t>
            </a: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Hybrid SDN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model: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6315075" y="3566799"/>
            <a:ext cx="4953000" cy="27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Legacy Nodes: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Traditional routers running OSPF/BGP.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28575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SDN Nodes: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OpenFlow switches managed by a central controller.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28575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Goal: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Evaluate interoperability and progressive migration strategies.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158750" lvl="0" marL="28575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158750" lvl="0" marL="28575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571500" y="571500"/>
            <a:ext cx="11049000" cy="61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Methodology: Hybrid Network Scenarios</a:t>
            </a:r>
            <a:endParaRPr b="1" i="0" sz="40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4" name="Google Shape;184;p22"/>
          <p:cNvSpPr txBox="1"/>
          <p:nvPr>
            <p:ph idx="12" type="sldNum"/>
          </p:nvPr>
        </p:nvSpPr>
        <p:spPr>
          <a:xfrm>
            <a:off x="5029200" y="6403988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6400"/>
            <a:ext cx="110490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571500" y="571500"/>
            <a:ext cx="11049000" cy="61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Result Analysis: Controller Throughput</a:t>
            </a:r>
            <a:endParaRPr b="1" i="0" sz="315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1" name="Google Shape;191;p23"/>
          <p:cNvSpPr txBox="1"/>
          <p:nvPr>
            <p:ph idx="12" type="sldNum"/>
          </p:nvPr>
        </p:nvSpPr>
        <p:spPr>
          <a:xfrm>
            <a:off x="5029200" y="6403988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571500" y="542290"/>
            <a:ext cx="116014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Result Analysis: Latency Comparison</a:t>
            </a:r>
            <a:endParaRPr b="1" i="0" sz="36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5029200" y="64859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550" y="2522350"/>
            <a:ext cx="3074750" cy="291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7350" y="2522350"/>
            <a:ext cx="3125100" cy="291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522350"/>
            <a:ext cx="3074750" cy="29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914084" y="3095109"/>
            <a:ext cx="2946930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5803D"/>
                </a:solidFill>
                <a:latin typeface="Manrope"/>
                <a:ea typeface="Manrope"/>
                <a:cs typeface="Manrope"/>
                <a:sym typeface="Manrope"/>
              </a:rPr>
              <a:t>Research &amp; Prototyping</a:t>
            </a:r>
            <a:endParaRPr b="1" i="0" sz="2400" u="none" cap="none" strike="noStrike">
              <a:solidFill>
                <a:srgbClr val="15803D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914075" y="3970025"/>
            <a:ext cx="28374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Winner: Ryu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 Due to its simplicity, Python support, and low latency in small topologies.</a:t>
            </a:r>
            <a:endParaRPr b="0" i="0" sz="18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4657307" y="3095109"/>
            <a:ext cx="2947087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Enterprise Data Centers</a:t>
            </a:r>
            <a:endParaRPr b="1" i="0" sz="24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4642225" y="3870950"/>
            <a:ext cx="29469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Winner: OpenDaylight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 Due to massive ecosystem support, legacy protocol integration, and high throughput.</a:t>
            </a:r>
            <a:endParaRPr b="0" i="0" sz="18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8400685" y="3036054"/>
            <a:ext cx="2946930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Manrope"/>
                <a:ea typeface="Manrope"/>
                <a:cs typeface="Manrope"/>
                <a:sym typeface="Manrope"/>
              </a:rPr>
              <a:t>Service Providers (WAN)</a:t>
            </a:r>
            <a:endParaRPr b="1" i="0" sz="2400" u="none" cap="none" strike="noStrike">
              <a:solidFill>
                <a:srgbClr val="F59E0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8077600" y="3857313"/>
            <a:ext cx="3125100" cy="1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Winner: ONOS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 Due to native clustering, high availability, and carrier-grade scalability features.</a:t>
            </a:r>
            <a:endParaRPr b="0" i="0" sz="18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213" name="Google Shape;21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5142" y="271410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2976" y="265505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650" y="265505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571500" y="571500"/>
            <a:ext cx="11601450" cy="676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Which Approach is Best?</a:t>
            </a:r>
            <a:endParaRPr b="1" i="0" sz="44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5123600" y="63667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7530" y="1581150"/>
            <a:ext cx="2321560" cy="286575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6718935" y="4369375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Merriweather"/>
                <a:ea typeface="Merriweather"/>
                <a:cs typeface="Merriweather"/>
                <a:sym typeface="Merriweather"/>
              </a:rPr>
              <a:t>Security Vulnerabilities</a:t>
            </a:r>
            <a:endParaRPr b="1" i="0" sz="1350" u="none" cap="none" strike="noStrike">
              <a:solidFill>
                <a:srgbClr val="B91C1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857250" y="1409700"/>
            <a:ext cx="6312535" cy="147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Single Point of Failure (SPOF):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A centralized controller failure can bring down the entire network if redundancy isn't configured.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797560" y="3068955"/>
            <a:ext cx="6312535" cy="147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Scalability Bottlenecks: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As flow requests increase, the controller-switch link can become saturated.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797560" y="4568190"/>
            <a:ext cx="6312535" cy="147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Consistency vs. Availability: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Distributed controllers (like ONOS) face CAP theorem trade-offs during network partitions.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571500" y="571500"/>
            <a:ext cx="11601450" cy="676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Limitations &amp; Challenges</a:t>
            </a:r>
            <a:endParaRPr b="1" i="0" sz="44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8" name="Google Shape;228;p26"/>
          <p:cNvSpPr txBox="1"/>
          <p:nvPr>
            <p:ph idx="12" type="sldNum"/>
          </p:nvPr>
        </p:nvSpPr>
        <p:spPr>
          <a:xfrm>
            <a:off x="5029200" y="63665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175" y="2658525"/>
            <a:ext cx="3347725" cy="264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9425" y="2658525"/>
            <a:ext cx="3264000" cy="264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658525"/>
            <a:ext cx="3347725" cy="264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7"/>
          <p:cNvSpPr txBox="1"/>
          <p:nvPr/>
        </p:nvSpPr>
        <p:spPr>
          <a:xfrm>
            <a:off x="844234" y="3262401"/>
            <a:ext cx="2946930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Distributed Security</a:t>
            </a:r>
            <a:endParaRPr b="1" i="0" sz="20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844225" y="3718975"/>
            <a:ext cx="30966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Lack of robust, standardized security protocols for </a:t>
            </a:r>
            <a:r>
              <a:rPr b="0" i="1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east-west</a:t>
            </a: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 communication between distributed controllers.</a:t>
            </a:r>
            <a:endParaRPr b="0" i="0" sz="16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4622382" y="3222396"/>
            <a:ext cx="2947087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Real-time AI Adaptation</a:t>
            </a:r>
            <a:endParaRPr b="1" i="0" sz="20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4621225" y="3760500"/>
            <a:ext cx="30966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Limited research on controllers that can self-heal using Reinforcement Learning in &lt; 1ms response times.</a:t>
            </a:r>
            <a:endParaRPr b="0" i="0" sz="16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8400685" y="3262401"/>
            <a:ext cx="2946930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Manrope"/>
                <a:ea typeface="Manrope"/>
                <a:cs typeface="Manrope"/>
                <a:sym typeface="Manrope"/>
              </a:rPr>
              <a:t>Legacy Interoperability</a:t>
            </a:r>
            <a:endParaRPr b="1" i="0" sz="2000" u="none" cap="none" strike="noStrike">
              <a:solidFill>
                <a:srgbClr val="0F17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8171175" y="3639825"/>
            <a:ext cx="3364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Seamless, automated translation between OpenFlow rules and complex vendor-specific legacy CLI commands.</a:t>
            </a:r>
            <a:endParaRPr b="0" i="0" sz="1600" u="none" cap="none" strike="noStrike">
              <a:solidFill>
                <a:srgbClr val="47556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242" name="Google Shape;24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7200" y="273217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163" y="273217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015" y="273217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/>
        </p:nvSpPr>
        <p:spPr>
          <a:xfrm>
            <a:off x="571500" y="571500"/>
            <a:ext cx="11601450" cy="676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Identified </a:t>
            </a:r>
            <a:r>
              <a:rPr b="1" i="0" lang="en-US" sz="4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Research </a:t>
            </a:r>
            <a:r>
              <a:rPr b="1" i="0" lang="en-US" sz="36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Gaps</a:t>
            </a:r>
            <a:endParaRPr b="1" i="0" sz="36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6" name="Google Shape;246;p27"/>
          <p:cNvSpPr txBox="1"/>
          <p:nvPr>
            <p:ph idx="12" type="sldNum"/>
          </p:nvPr>
        </p:nvSpPr>
        <p:spPr>
          <a:xfrm>
            <a:off x="5029200" y="64392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764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859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8"/>
          <p:cNvSpPr txBox="1"/>
          <p:nvPr/>
        </p:nvSpPr>
        <p:spPr>
          <a:xfrm>
            <a:off x="571500" y="1409700"/>
            <a:ext cx="5349900" cy="4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Intent-Based Networking (IBN):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Moving from "how" to configure (rules) to "what" is needed (business intent).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AI-Driven SDN: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Using Machine Learning to predict traffic spikes and pre-install rules to reduce latency.</a:t>
            </a:r>
            <a:endParaRPr b="0" i="0" sz="2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SDN in 6G:</a:t>
            </a:r>
            <a:r>
              <a:rPr b="0" i="0" lang="en-US" sz="2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Dynamic slicing of network resources for ultra-low latency applications (IoT, Autonomous Driving).</a:t>
            </a:r>
            <a:endParaRPr b="0" i="0" sz="12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571500" y="571500"/>
            <a:ext cx="11601450" cy="615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Future Work: AI &amp; 6G</a:t>
            </a:r>
            <a:endParaRPr b="1" i="0" sz="40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6" name="Google Shape;256;p28"/>
          <p:cNvSpPr txBox="1"/>
          <p:nvPr>
            <p:ph idx="12" type="sldNum"/>
          </p:nvPr>
        </p:nvSpPr>
        <p:spPr>
          <a:xfrm>
            <a:off x="5029200" y="6403988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 txBox="1"/>
          <p:nvPr/>
        </p:nvSpPr>
        <p:spPr>
          <a:xfrm>
            <a:off x="550800" y="1525875"/>
            <a:ext cx="10866000" cy="3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"SDN has fundamentally transformed networking from static hardware configuration to dynamic software orchestration. While challenges in security and scalability remain, the integration of AI and distributed architectures points to a future of fully autonomous, self-driving networks."</a:t>
            </a:r>
            <a:endParaRPr b="0" i="0" sz="28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654375" y="488625"/>
            <a:ext cx="10762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Conclusion</a:t>
            </a:r>
            <a:endParaRPr b="1" i="0" sz="44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4" name="Google Shape;264;p29"/>
          <p:cNvSpPr txBox="1"/>
          <p:nvPr>
            <p:ph idx="12" type="sldNum"/>
          </p:nvPr>
        </p:nvSpPr>
        <p:spPr>
          <a:xfrm>
            <a:off x="4968825" y="6403988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0"/>
          <p:cNvSpPr/>
          <p:nvPr/>
        </p:nvSpPr>
        <p:spPr>
          <a:xfrm>
            <a:off x="571500" y="27994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571500" y="35842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571500" y="43689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571500" y="51537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4" name="Google Shape;27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36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 txBox="1"/>
          <p:nvPr/>
        </p:nvSpPr>
        <p:spPr>
          <a:xfrm>
            <a:off x="1666875" y="2167086"/>
            <a:ext cx="9953625" cy="24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https://ipcisco.com/wp-content/uploads/SDN-centralized-control-1-458x492.jpg</a:t>
            </a:r>
            <a:endParaRPr b="0" i="0" sz="1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1666875" y="2412801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ipcisco.com</a:t>
            </a:r>
            <a:endParaRPr b="0" i="0" sz="1200" u="none" cap="none" strike="noStrike">
              <a:solidFill>
                <a:srgbClr val="4F46E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277" name="Google Shape;27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58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/>
        </p:nvSpPr>
        <p:spPr>
          <a:xfrm>
            <a:off x="1666875" y="2951857"/>
            <a:ext cx="9953625" cy="24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https://sdn.ieee.org/images/files/newsletter/201709-haleplidis-figure1.jpg</a:t>
            </a:r>
            <a:endParaRPr b="0" i="0" sz="1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1666875" y="3197572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ieee.org</a:t>
            </a:r>
            <a:endParaRPr b="0" i="0" sz="1200" u="none" cap="none" strike="noStrike">
              <a:solidFill>
                <a:srgbClr val="4F46E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280" name="Google Shape;2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431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1666875" y="3736627"/>
            <a:ext cx="9953625" cy="24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https://uploads.teachablecdn.com/attachments/kIdtT9WLQ82xjO9qwRHQ_2-14+Mininet+Network.drawio.png</a:t>
            </a:r>
            <a:endParaRPr b="0" i="0" sz="1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1666875" y="3982342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www.telcomaglobal.com</a:t>
            </a:r>
            <a:endParaRPr b="0" i="0" sz="1200" u="none" cap="none" strike="noStrike">
              <a:solidFill>
                <a:srgbClr val="4F46E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283" name="Google Shape;28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279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 txBox="1"/>
          <p:nvPr/>
        </p:nvSpPr>
        <p:spPr>
          <a:xfrm>
            <a:off x="1666875" y="4521398"/>
            <a:ext cx="9953625" cy="24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https://www.mdpi.com/jsan/jsan-10-00057/article_deploy/html/images/jsan-10-00057-g001.png</a:t>
            </a:r>
            <a:endParaRPr b="0" i="0" sz="1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1666875" y="4767113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www.mdpi.com</a:t>
            </a:r>
            <a:endParaRPr b="0" i="0" sz="1200" u="none" cap="none" strike="noStrike">
              <a:solidFill>
                <a:srgbClr val="4F46E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image.png" id="286" name="Google Shape;28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127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 txBox="1"/>
          <p:nvPr/>
        </p:nvSpPr>
        <p:spPr>
          <a:xfrm>
            <a:off x="1666875" y="5306169"/>
            <a:ext cx="9953625" cy="24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https://thegreeleyvoice.com/wp-content/uploads/2025/02/neural-networks.png</a:t>
            </a:r>
            <a:endParaRPr b="0" i="0" sz="1000" u="none" cap="none" strike="noStrike">
              <a:solidFill>
                <a:srgbClr val="33415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8" name="Google Shape;288;p30"/>
          <p:cNvSpPr txBox="1"/>
          <p:nvPr/>
        </p:nvSpPr>
        <p:spPr>
          <a:xfrm>
            <a:off x="1666875" y="5551884"/>
            <a:ext cx="9953625" cy="29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thegreeleyvoice.com</a:t>
            </a:r>
            <a:endParaRPr b="0" i="0" sz="1200" u="none" cap="none" strike="noStrike">
              <a:solidFill>
                <a:srgbClr val="4F46E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571500" y="571500"/>
            <a:ext cx="11049000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E3A8A"/>
                </a:solidFill>
                <a:latin typeface="Manrope"/>
                <a:ea typeface="Manrope"/>
                <a:cs typeface="Manrope"/>
                <a:sym typeface="Manrope"/>
              </a:rPr>
              <a:t>Image Sources</a:t>
            </a:r>
            <a:endParaRPr b="1" i="0" sz="4400" u="none" cap="none" strike="noStrike">
              <a:solidFill>
                <a:srgbClr val="1E3A8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0" name="Google Shape;290;p30"/>
          <p:cNvSpPr txBox="1"/>
          <p:nvPr>
            <p:ph idx="12" type="sldNum"/>
          </p:nvPr>
        </p:nvSpPr>
        <p:spPr>
          <a:xfrm>
            <a:off x="5029200" y="64795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/>
        </p:nvSpPr>
        <p:spPr>
          <a:xfrm>
            <a:off x="766600" y="915675"/>
            <a:ext cx="10805100" cy="54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D. Kreutz, F. Ramos, P. Esteves Verissimo, C. Esteve Rothenberg, S. Azodolmolky and S. Uhlig, “Software-Defined Networking: A Comprehensive Survey,” Proceedings of the IEEE, vol. 103, no. 1, pp. 14–76, Jan. 2015.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N. McKeown et al., “OpenFlow: Enabling Innovation in Campus Networks,” in Proc. ACM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SIGCOMM, pp. 69–74, 2008.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 S. Jain et al., “B4: Experience with a Globally-Deployed Software Defined WAN,” in Proc. ACM SIGCOMM, pp. 3–14, 2013.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 A. Lara, A. Kolasani and B. Ramamurthy, “Network Innovation Using OpenFlow: A Survey,” IEEE Communications Surveys &amp; Tutorials, vol. 16, no. 1, pp. 493–512, 2014.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 S. Scott-Hayward, G. O’Callaghan and S. Sezer, “SDN Security: A Survey,” IEEE Communications Surveys &amp; Tutorials, vol. 18, no. 1, pp. 623–654, 2016.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3762375" y="201930"/>
            <a:ext cx="4064000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1"/>
          <p:cNvSpPr txBox="1"/>
          <p:nvPr>
            <p:ph idx="12" type="sldNum"/>
          </p:nvPr>
        </p:nvSpPr>
        <p:spPr>
          <a:xfrm>
            <a:off x="5029200" y="64929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 txBox="1"/>
          <p:nvPr/>
        </p:nvSpPr>
        <p:spPr>
          <a:xfrm>
            <a:off x="3900573" y="2384077"/>
            <a:ext cx="439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Questions?</a:t>
            </a:r>
            <a:endParaRPr b="1" i="0" sz="6000" u="none" cap="none" strike="noStrike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4005113" y="3460402"/>
            <a:ext cx="4181623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Manrope"/>
                <a:ea typeface="Manrope"/>
                <a:cs typeface="Manrope"/>
                <a:sym typeface="Manrope"/>
              </a:rPr>
              <a:t>Thank you for your attention.</a:t>
            </a:r>
            <a:endParaRPr b="0" i="0" sz="1800" u="none" cap="none" strike="noStrike">
              <a:solidFill>
                <a:srgbClr val="64748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5" name="Google Shape;305;p32"/>
          <p:cNvSpPr txBox="1"/>
          <p:nvPr>
            <p:ph idx="12" type="sldNum"/>
          </p:nvPr>
        </p:nvSpPr>
        <p:spPr>
          <a:xfrm>
            <a:off x="5689125" y="6403988"/>
            <a:ext cx="81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